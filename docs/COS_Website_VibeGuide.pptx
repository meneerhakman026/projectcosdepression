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4" r:id="rId6"/>
    <p:sldId id="260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61"/>
  </p:normalViewPr>
  <p:slideViewPr>
    <p:cSldViewPr snapToGrid="0" showGuides="1">
      <p:cViewPr varScale="1">
        <p:scale>
          <a:sx n="142" d="100"/>
          <a:sy n="142" d="100"/>
        </p:scale>
        <p:origin x="112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25E2-2BD1-FB08-8E80-0AF8F7620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56D81-00F8-F559-1380-4C2C812A9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AD850-5490-1B27-444A-9F4C41D4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57EE2-143D-E44A-B25F-50851C0E1431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41C23-5598-8CFA-BF51-EF7C7A61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2E818-2CDE-7684-0DDA-EF8DCAC15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367E-5560-824A-8BE8-0B887569EB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927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ECB96-32AD-9D42-B556-86B516B40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1AC37-1F2C-EB6F-C7FD-71EBF075E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46D07-2BA1-1327-E5D0-BCFA48961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57EE2-143D-E44A-B25F-50851C0E1431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7BD8B-3AD6-4BA0-8830-2B925A53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220D0-C634-1CB5-CF1C-B8F89ED0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367E-5560-824A-8BE8-0B887569EB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6158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3B8A8-4099-23C0-202C-6E82527DF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8BDF-7295-048C-1B56-6EB5D4DD5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38C45-11BD-A0DB-3DA6-43A05166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57EE2-143D-E44A-B25F-50851C0E1431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B9509-04DE-905B-8644-685A19BB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3A307-BC8D-121B-A46B-0BC353841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367E-5560-824A-8BE8-0B887569EB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671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7BEE6-D80D-A2A5-D680-02C18060E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D4528-617D-BD27-F57F-ACC24601B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1636D-2EF7-D13A-8104-FE5F03274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686D1-DE40-E779-2359-471BFAE77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57EE2-143D-E44A-B25F-50851C0E1431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46B84-C274-4C6D-2B0B-0F1FB0012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994C1-6F3A-2259-9037-E463D62D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367E-5560-824A-8BE8-0B887569EB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8637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5A06-89F4-7E7D-3CF9-125DF2858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D2D2-B841-2C2E-5CD2-EE785E075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234F2-9606-210E-B657-CDEC2EBF7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9D41ED-DF77-AD37-B724-283A035DDA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536C33-3D48-E744-D5DB-6687F1A73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D271DB-97F7-0906-E73F-CAC06D96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57EE2-143D-E44A-B25F-50851C0E1431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3C9621-6298-E5CD-E148-BD8632F3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85FF4F-4A92-CEAF-E01E-7AF3468C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367E-5560-824A-8BE8-0B887569EB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343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6794D-DFA7-6DBD-B34E-741FC936B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9EA4A1-1C20-C6E0-CA56-F7A476795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57EE2-143D-E44A-B25F-50851C0E1431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6577F3-A080-AA9E-E311-4A336ACB9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8A08D7-A06F-2614-0105-0C54FC50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367E-5560-824A-8BE8-0B887569EB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917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CE3574-38C6-5A65-9805-AEFAAE789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57EE2-143D-E44A-B25F-50851C0E1431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7707D8-EEEC-D145-7E6B-1D61BD3E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F7A55-E53B-8EA9-AE18-53BB57D8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367E-5560-824A-8BE8-0B887569EB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2305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B9478-9F47-2B64-71EE-B04FDEA5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AD6D5-F53B-C0AD-6864-2A3A00939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93D39-C6A0-37B4-ACB8-9C424D4D5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B5AD4-E5DA-B7EA-009D-672D53D95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57EE2-143D-E44A-B25F-50851C0E1431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336C-FF6E-45AB-9196-0D358DC7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139AC-6C21-CA1F-88AB-E0BAA05F2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367E-5560-824A-8BE8-0B887569EB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6707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4AB86-6816-A91E-D2D4-AEBDAE16F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03E02-E836-8C1F-8D42-523DA16EF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9B243-68E8-8326-46D3-B9870E58F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AC119-8C18-C7C3-2FED-FA6CD3797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57EE2-143D-E44A-B25F-50851C0E1431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B8410-4534-0E93-5772-087D3C362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97FF1-44A4-FB71-6B08-59D9813CC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367E-5560-824A-8BE8-0B887569EB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0629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12B2-E9C0-208A-7BCD-D854AA0F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A4AE62-DEB2-2493-D355-62ED2A1DF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0FCC7-07F2-8B48-6952-B6C8B201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57EE2-143D-E44A-B25F-50851C0E1431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3812F-DC18-FA0D-C026-A50FEFF9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07950-EF8D-FF66-17A2-7F03C1109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367E-5560-824A-8BE8-0B887569EB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9479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250D27-7781-528C-E6FA-94E216B66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5A257-93BB-1E97-8D91-188276DEB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77493-75C5-CBBD-51B2-8E54C0EB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57EE2-143D-E44A-B25F-50851C0E1431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107D9-6A8E-B981-EFB2-FCDE955C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47FB4-373C-9BB5-B416-B727464D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367E-5560-824A-8BE8-0B887569EB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8670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282EA6-9EA3-C111-17F1-F864BC9AB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87528-03C2-2BB5-8723-9CE435E07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C506A-F68A-45D4-B833-15861F38DC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57EE2-143D-E44A-B25F-50851C0E1431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4E65E-2513-5F79-B66F-4916A2C74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8A97A-D526-CD6E-95FD-C7C3D5F19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0367E-5560-824A-8BE8-0B887569EB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1032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qmentalhealth.org/" TargetMode="External"/><Relationship Id="rId2" Type="http://schemas.openxmlformats.org/officeDocument/2006/relationships/hyperlink" Target="https://wellcome.org/our-priorities/mental-health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23E8-76DF-4784-141D-0A351AF1B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en-AU" dirty="0"/>
              <a:t>COS Website Vibe Guide</a:t>
            </a:r>
          </a:p>
        </p:txBody>
      </p:sp>
    </p:spTree>
    <p:extLst>
      <p:ext uri="{BB962C8B-B14F-4D97-AF65-F5344CB8AC3E}">
        <p14:creationId xmlns:p14="http://schemas.microsoft.com/office/powerpoint/2010/main" val="180698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9F84-81F7-FF56-DEBA-43A895EC2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5A386-068D-7CD9-C409-081BA7EE5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 website will be the main landing page for people referred to the study. </a:t>
            </a:r>
          </a:p>
          <a:p>
            <a:r>
              <a:rPr lang="en-AU" dirty="0"/>
              <a:t>It should act as a clear and welcoming introduction to learn about the project, motivate people to participate (e.g., testimonials/videos), and provide access to the study (It will be hosted externally).</a:t>
            </a:r>
          </a:p>
          <a:p>
            <a:r>
              <a:rPr lang="en-AU" dirty="0"/>
              <a:t>The overall goal is to be a clear welcoming introduction to the study rather than feeling too academic or complicated. </a:t>
            </a:r>
          </a:p>
        </p:txBody>
      </p:sp>
    </p:spTree>
    <p:extLst>
      <p:ext uri="{BB962C8B-B14F-4D97-AF65-F5344CB8AC3E}">
        <p14:creationId xmlns:p14="http://schemas.microsoft.com/office/powerpoint/2010/main" val="9611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DC6D1-8A04-5B4F-9986-0EEF82107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EE09D-A7F8-2BEB-38A2-830A242FD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Landing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C5A7C-7CC0-3537-B6D4-1656402F0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AU" dirty="0"/>
              <a:t>Logo/banner</a:t>
            </a:r>
          </a:p>
          <a:p>
            <a:r>
              <a:rPr lang="en-AU" dirty="0"/>
              <a:t>Short clear introduction (~X words).</a:t>
            </a:r>
          </a:p>
          <a:p>
            <a:r>
              <a:rPr lang="en-AU" dirty="0"/>
              <a:t>Simple explanation of the project (~X words).</a:t>
            </a:r>
          </a:p>
          <a:p>
            <a:r>
              <a:rPr lang="en-AU" dirty="0"/>
              <a:t>Minor content from other pages.</a:t>
            </a:r>
          </a:p>
          <a:p>
            <a:r>
              <a:rPr lang="en-AU" dirty="0"/>
              <a:t>Prominent call-to-action (to participate/learn more)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538994-B491-5A13-7ED8-C9AC69E3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411" y="1381252"/>
            <a:ext cx="6454589" cy="39979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28AC7B9-9C59-D7FC-6E3E-4E6E5D5AD7EF}"/>
              </a:ext>
            </a:extLst>
          </p:cNvPr>
          <p:cNvSpPr/>
          <p:nvPr/>
        </p:nvSpPr>
        <p:spPr>
          <a:xfrm>
            <a:off x="6678706" y="1891553"/>
            <a:ext cx="4554069" cy="2823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97B6CA-2108-80A2-228F-7138745FD740}"/>
              </a:ext>
            </a:extLst>
          </p:cNvPr>
          <p:cNvSpPr/>
          <p:nvPr/>
        </p:nvSpPr>
        <p:spPr>
          <a:xfrm>
            <a:off x="6678705" y="2259106"/>
            <a:ext cx="4554069" cy="2599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ysClr val="windowText" lastClr="000000"/>
                </a:solidFill>
              </a:rPr>
              <a:t>PAGE NAVIGATION BAR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F7DD0A-65F4-77AB-EDDC-D02615424D16}"/>
              </a:ext>
            </a:extLst>
          </p:cNvPr>
          <p:cNvSpPr/>
          <p:nvPr/>
        </p:nvSpPr>
        <p:spPr>
          <a:xfrm>
            <a:off x="10309410" y="1943941"/>
            <a:ext cx="923362" cy="2599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ysClr val="windowText" lastClr="000000"/>
                </a:solidFill>
              </a:rPr>
              <a:t>LOGO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765901-3102-1120-DB05-874519420EAB}"/>
              </a:ext>
            </a:extLst>
          </p:cNvPr>
          <p:cNvSpPr/>
          <p:nvPr/>
        </p:nvSpPr>
        <p:spPr>
          <a:xfrm>
            <a:off x="6678704" y="3763145"/>
            <a:ext cx="4554069" cy="8561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ysClr val="windowText" lastClr="000000"/>
                </a:solidFill>
              </a:rPr>
              <a:t>TESTIMONIALS / PROMOTIONAL IMAGES &amp; SLOGANS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AC6E2C-B416-B274-CD1C-8B5D8A2493F7}"/>
              </a:ext>
            </a:extLst>
          </p:cNvPr>
          <p:cNvSpPr/>
          <p:nvPr/>
        </p:nvSpPr>
        <p:spPr>
          <a:xfrm>
            <a:off x="6678703" y="2558655"/>
            <a:ext cx="2265831" cy="11609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ysClr val="windowText" lastClr="000000"/>
                </a:solidFill>
              </a:rPr>
              <a:t>TEXT ABOUT THE STUDY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5AC797-05C0-4A36-336F-AC1D27D40305}"/>
              </a:ext>
            </a:extLst>
          </p:cNvPr>
          <p:cNvSpPr/>
          <p:nvPr/>
        </p:nvSpPr>
        <p:spPr>
          <a:xfrm>
            <a:off x="8966941" y="2558654"/>
            <a:ext cx="2265831" cy="11609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ysClr val="windowText" lastClr="000000"/>
                </a:solidFill>
              </a:rPr>
              <a:t>PROMOTIONAL UPDATE LIKE 4000 PEOPLE HAVE PARTICIPATED SO FAR – WOW!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01848B-C083-959D-AD30-B3732C7B304A}"/>
              </a:ext>
            </a:extLst>
          </p:cNvPr>
          <p:cNvSpPr/>
          <p:nvPr/>
        </p:nvSpPr>
        <p:spPr>
          <a:xfrm>
            <a:off x="9601195" y="2259106"/>
            <a:ext cx="1631577" cy="2599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ysClr val="windowText" lastClr="000000"/>
                </a:solidFill>
              </a:rPr>
              <a:t>TAKE THE SURVEY!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351182-BAF1-EC81-E261-CD8D5932C2CA}"/>
              </a:ext>
            </a:extLst>
          </p:cNvPr>
          <p:cNvSpPr/>
          <p:nvPr/>
        </p:nvSpPr>
        <p:spPr>
          <a:xfrm>
            <a:off x="6701114" y="1959558"/>
            <a:ext cx="3597092" cy="2599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ysClr val="windowText" lastClr="000000"/>
                </a:solidFill>
              </a:rPr>
              <a:t>TITLE BANNER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EBF3DA-6821-775A-66C3-7F93788DE094}"/>
              </a:ext>
            </a:extLst>
          </p:cNvPr>
          <p:cNvSpPr/>
          <p:nvPr/>
        </p:nvSpPr>
        <p:spPr>
          <a:xfrm>
            <a:off x="6667499" y="5431632"/>
            <a:ext cx="4554069" cy="679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The layout can also look different – I just made an attempt </a:t>
            </a:r>
            <a:r>
              <a:rPr lang="en-AU" dirty="0">
                <a:solidFill>
                  <a:schemeClr val="tx1"/>
                </a:solidFill>
                <a:sym typeface="Wingdings" pitchFamily="2" charset="2"/>
              </a:rPr>
              <a:t></a:t>
            </a:r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438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8532-D696-7417-57E3-3C45B4A80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A5020-6056-32E9-5C1E-B33E9FA9B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Other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3533C-5C32-1F97-579F-3C81C0D91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AU" dirty="0"/>
              <a:t>About the project</a:t>
            </a:r>
          </a:p>
          <a:p>
            <a:r>
              <a:rPr lang="en-AU" dirty="0"/>
              <a:t>Study information</a:t>
            </a:r>
          </a:p>
          <a:p>
            <a:r>
              <a:rPr lang="en-AU" dirty="0"/>
              <a:t>FAQs</a:t>
            </a:r>
          </a:p>
          <a:p>
            <a:r>
              <a:rPr lang="en-AU" dirty="0"/>
              <a:t>Depression Dictionary</a:t>
            </a:r>
          </a:p>
          <a:p>
            <a:r>
              <a:rPr lang="en-AU" dirty="0"/>
              <a:t>Testimonials/Community</a:t>
            </a:r>
          </a:p>
          <a:p>
            <a:r>
              <a:rPr lang="en-AU" dirty="0"/>
              <a:t>Publications</a:t>
            </a:r>
          </a:p>
          <a:p>
            <a:r>
              <a:rPr lang="en-AU" dirty="0"/>
              <a:t>Media promotion/Webinars</a:t>
            </a:r>
          </a:p>
          <a:p>
            <a:r>
              <a:rPr lang="en-AU" dirty="0"/>
              <a:t>Take the survey!</a:t>
            </a:r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D058E2-EBA8-2C0F-2D01-006D79CD4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411" y="215841"/>
            <a:ext cx="6454589" cy="39979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6FD92D-ED7A-F71D-DC4A-FCEB6A912B57}"/>
              </a:ext>
            </a:extLst>
          </p:cNvPr>
          <p:cNvSpPr/>
          <p:nvPr/>
        </p:nvSpPr>
        <p:spPr>
          <a:xfrm>
            <a:off x="6678706" y="726142"/>
            <a:ext cx="4554069" cy="2823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I was going to make an example then realised I had no idea how it would look (lol)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E2D7D-9077-AC07-313E-72DFD2E74656}"/>
              </a:ext>
            </a:extLst>
          </p:cNvPr>
          <p:cNvSpPr txBox="1"/>
          <p:nvPr/>
        </p:nvSpPr>
        <p:spPr>
          <a:xfrm>
            <a:off x="5842805" y="4213833"/>
            <a:ext cx="61250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Most pages will have a single page of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If more, then continuous scroll would be nice (if possible?)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It would be nice to have the logo/navigation bar set across all pages (for consistency)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Any videos/survey link will be external – is it possible to embed videos (from </a:t>
            </a:r>
            <a:r>
              <a:rPr lang="en-AU" dirty="0" err="1"/>
              <a:t>youtube</a:t>
            </a:r>
            <a:r>
              <a:rPr lang="en-AU" dirty="0"/>
              <a:t> probably) on the pages of the site?</a:t>
            </a:r>
          </a:p>
        </p:txBody>
      </p:sp>
    </p:spTree>
    <p:extLst>
      <p:ext uri="{BB962C8B-B14F-4D97-AF65-F5344CB8AC3E}">
        <p14:creationId xmlns:p14="http://schemas.microsoft.com/office/powerpoint/2010/main" val="989090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59CB5-6E76-64DD-91B1-65068CA3B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4C685-C8FC-405F-CDE7-837E4CD58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Mobile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8D744-5833-F6ED-37C2-4CB45CCFB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AU" dirty="0"/>
              <a:t>It would also be super cool to have it accessible on mobile (not sure if this is possible).</a:t>
            </a:r>
          </a:p>
          <a:p>
            <a:r>
              <a:rPr lang="en-AU" dirty="0"/>
              <a:t>We’re targeting a lot of younger people (18-35) so it would be handy for them to access this site on their phone.</a:t>
            </a:r>
          </a:p>
          <a:p>
            <a:r>
              <a:rPr lang="en-AU" dirty="0"/>
              <a:t>Would a mobile version be easier with only a few pages?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6C4F08-0F46-1A36-81CF-BF86710C7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101" y="1027906"/>
            <a:ext cx="2662810" cy="48665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2DED34-E143-5CBF-8E57-023C7A935394}"/>
              </a:ext>
            </a:extLst>
          </p:cNvPr>
          <p:cNvSpPr/>
          <p:nvPr/>
        </p:nvSpPr>
        <p:spPr>
          <a:xfrm>
            <a:off x="8101877" y="1416424"/>
            <a:ext cx="1902736" cy="4069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242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C79AD-B809-1563-9953-0BCF5A69C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157D-5386-ADB8-4E19-382921C1A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Visual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B1C2F-5EC7-7CCA-6032-7FE9BD35A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AU" dirty="0"/>
              <a:t>Main logo colours: #4f9aa7, #9fd0c2, #1c2c43</a:t>
            </a:r>
          </a:p>
          <a:p>
            <a:r>
              <a:rPr lang="en-AU" dirty="0"/>
              <a:t>Prefer to keep to this palette + black text , rather than super coloured/intense</a:t>
            </a:r>
          </a:p>
          <a:p>
            <a:r>
              <a:rPr lang="en-AU" dirty="0">
                <a:sym typeface="Wingdings" pitchFamily="2" charset="2"/>
              </a:rPr>
              <a:t>More understated, professional, minimal, but not too cold.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E3E3EF-2642-0D90-C0DC-EE018093D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325" y="1276537"/>
            <a:ext cx="5723872" cy="24886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0C2771-941C-BAE2-A815-BCC77FD41D28}"/>
              </a:ext>
            </a:extLst>
          </p:cNvPr>
          <p:cNvSpPr/>
          <p:nvPr/>
        </p:nvSpPr>
        <p:spPr>
          <a:xfrm>
            <a:off x="6920753" y="3429000"/>
            <a:ext cx="4554069" cy="2823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This logo is meant to represent tears from the three target groups (people with depression, healthcare professionals, and informal caregivers) coming together in a single tear. I’m not sure if that’s relevant for the website…?</a:t>
            </a:r>
          </a:p>
        </p:txBody>
      </p:sp>
    </p:spTree>
    <p:extLst>
      <p:ext uri="{BB962C8B-B14F-4D97-AF65-F5344CB8AC3E}">
        <p14:creationId xmlns:p14="http://schemas.microsoft.com/office/powerpoint/2010/main" val="2534988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60E66-627C-2A7E-6800-55EFF97E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199E2-88C1-37FE-EC21-B6C5D5C82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Technical design preferences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7D8BA54-47D5-57CE-00C6-FE4A03A9B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AU" dirty="0"/>
              <a:t>Continuous scroll/</a:t>
            </a:r>
            <a:r>
              <a:rPr lang="en-AU" dirty="0" err="1"/>
              <a:t>swipeyness</a:t>
            </a:r>
            <a:r>
              <a:rPr lang="en-AU" dirty="0"/>
              <a:t> where possible for mobile users.</a:t>
            </a:r>
          </a:p>
          <a:p>
            <a:r>
              <a:rPr lang="en-AU" dirty="0"/>
              <a:t>Limited animation </a:t>
            </a:r>
            <a:r>
              <a:rPr lang="en-AU" dirty="0">
                <a:sym typeface="Wingdings" pitchFamily="2" charset="2"/>
              </a:rPr>
              <a:t> I don’t want to gamify it/keep it a bit serious.</a:t>
            </a:r>
          </a:p>
          <a:p>
            <a:r>
              <a:rPr lang="en-AU" dirty="0">
                <a:sym typeface="Wingdings" pitchFamily="2" charset="2"/>
              </a:rPr>
              <a:t>No pop-ups  I </a:t>
            </a:r>
            <a:r>
              <a:rPr lang="en-AU" dirty="0" err="1">
                <a:sym typeface="Wingdings" pitchFamily="2" charset="2"/>
              </a:rPr>
              <a:t>wanna</a:t>
            </a:r>
            <a:r>
              <a:rPr lang="en-AU" dirty="0">
                <a:sym typeface="Wingdings" pitchFamily="2" charset="2"/>
              </a:rPr>
              <a:t> seem legit.</a:t>
            </a:r>
          </a:p>
          <a:p>
            <a:endParaRPr lang="en-AU" dirty="0">
              <a:sym typeface="Wingdings" pitchFamily="2" charset="2"/>
            </a:endParaRP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01201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7367A-EF83-730D-BA51-8DCFE350F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EE85-C66C-14EA-438C-0CD24A43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Some other website examples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1452EC-ED27-1204-51DA-904D6F95C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For information/image combination ratio:</a:t>
            </a:r>
          </a:p>
          <a:p>
            <a:r>
              <a:rPr lang="en-AU" dirty="0">
                <a:hlinkClick r:id="rId2"/>
              </a:rPr>
              <a:t>https://wellcome.org/our-priorities/mental-health</a:t>
            </a:r>
            <a:endParaRPr lang="en-AU" dirty="0"/>
          </a:p>
          <a:p>
            <a:r>
              <a:rPr lang="en-AU" dirty="0">
                <a:sym typeface="Wingdings" pitchFamily="2" charset="2"/>
                <a:hlinkClick r:id="rId3"/>
              </a:rPr>
              <a:t>https://www.mqmentalhealth.org/</a:t>
            </a:r>
            <a:endParaRPr lang="en-AU" dirty="0">
              <a:sym typeface="Wingdings" pitchFamily="2" charset="2"/>
            </a:endParaRPr>
          </a:p>
          <a:p>
            <a:endParaRPr lang="en-AU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AU" dirty="0">
                <a:sym typeface="Wingdings" pitchFamily="2" charset="2"/>
              </a:rPr>
              <a:t>For vibe/style:</a:t>
            </a:r>
          </a:p>
          <a:p>
            <a:r>
              <a:rPr lang="en-AU" dirty="0">
                <a:sym typeface="Wingdings" pitchFamily="2" charset="2"/>
              </a:rPr>
              <a:t>I couldn’t find anything but maybe we can speak together.</a:t>
            </a:r>
          </a:p>
          <a:p>
            <a:pPr marL="0" indent="0">
              <a:buNone/>
            </a:pPr>
            <a:endParaRPr lang="en-AU" dirty="0">
              <a:sym typeface="Wingdings" pitchFamily="2" charset="2"/>
            </a:endParaRP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63051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498</Words>
  <Application>Microsoft Macintosh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COS Website Vibe Guide</vt:lpstr>
      <vt:lpstr>Project overview</vt:lpstr>
      <vt:lpstr>Landing page</vt:lpstr>
      <vt:lpstr>Other pages</vt:lpstr>
      <vt:lpstr>Mobile accessibility</vt:lpstr>
      <vt:lpstr>Visual style</vt:lpstr>
      <vt:lpstr>Technical design preferences</vt:lpstr>
      <vt:lpstr>Some other website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VEAL</dc:creator>
  <cp:lastModifiedBy>Christopher VEAL</cp:lastModifiedBy>
  <cp:revision>2</cp:revision>
  <dcterms:created xsi:type="dcterms:W3CDTF">2026-09-03T14:23:08Z</dcterms:created>
  <dcterms:modified xsi:type="dcterms:W3CDTF">2026-09-03T15:24:25Z</dcterms:modified>
</cp:coreProperties>
</file>